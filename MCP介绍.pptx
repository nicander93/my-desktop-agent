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cfbd60c2a8c45f0" /><Relationship Type="http://schemas.openxmlformats.org/package/2006/relationships/metadata/core-properties" Target="/docProps/core.xml" Id="R8fd5b9edba694f32" /><Relationship Type="http://schemas.openxmlformats.org/officeDocument/2006/relationships/extended-properties" Target="/docProps/app.xml" Id="Rf2c42b8fe0e345ba" /><Relationship Type="http://schemas.openxmlformats.org/officeDocument/2006/relationships/custom-properties" Target="/docProps/custom.xml" Id="R993658a6a8d447f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67cd3756de4404a"/>
    <p:sldId id="257" r:id="R05b6976bc8384864"/>
    <p:sldId id="258" r:id="Rcaece92c747d4817"/>
    <p:sldId id="259" r:id="Rf3e5ee22eeb14a30"/>
    <p:sldId id="260" r:id="Rf1dbfbf40e3647be"/>
    <p:sldId id="261" r:id="R18939aad2a224a97"/>
    <p:sldId id="262" r:id="R95dec3e011f24d02"/>
    <p:sldId id="263" r:id="R3a90ecbaa32e49a3"/>
    <p:sldId id="264" r:id="Rd4fba3eb643a4e01"/>
    <p:sldId id="265" r:id="R8ce597c103024767"/>
    <p:sldId id="266" r:id="Rc1d8114d1a424455"/>
    <p:sldId id="267" r:id="R06c9f12c5a3d4224"/>
    <p:sldId id="268" r:id="R72d1a21173e0481b"/>
    <p:sldId id="269" r:id="R47a3f7485e464ece"/>
    <p:sldId id="270" r:id="R4f55753098d3406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67cd3756de4404a" /><Relationship Type="http://schemas.openxmlformats.org/officeDocument/2006/relationships/slide" Target="/ppt/slides/slide2.xml" Id="R05b6976bc8384864" /><Relationship Type="http://schemas.openxmlformats.org/officeDocument/2006/relationships/slide" Target="/ppt/slides/slide3.xml" Id="Rcaece92c747d4817" /><Relationship Type="http://schemas.openxmlformats.org/officeDocument/2006/relationships/slide" Target="/ppt/slides/slide4.xml" Id="Rf3e5ee22eeb14a30" /><Relationship Type="http://schemas.openxmlformats.org/officeDocument/2006/relationships/slide" Target="/ppt/slides/slide5.xml" Id="Rf1dbfbf40e3647be" /><Relationship Type="http://schemas.openxmlformats.org/officeDocument/2006/relationships/slide" Target="/ppt/slides/slide6.xml" Id="R18939aad2a224a97" /><Relationship Type="http://schemas.openxmlformats.org/officeDocument/2006/relationships/slide" Target="/ppt/slides/slide7.xml" Id="R95dec3e011f24d02" /><Relationship Type="http://schemas.openxmlformats.org/officeDocument/2006/relationships/slide" Target="/ppt/slides/slide8.xml" Id="R3a90ecbaa32e49a3" /><Relationship Type="http://schemas.openxmlformats.org/officeDocument/2006/relationships/slide" Target="/ppt/slides/slide9.xml" Id="Rd4fba3eb643a4e01" /><Relationship Type="http://schemas.openxmlformats.org/officeDocument/2006/relationships/slide" Target="/ppt/slides/slide10.xml" Id="R8ce597c103024767" /><Relationship Type="http://schemas.openxmlformats.org/officeDocument/2006/relationships/slide" Target="/ppt/slides/slide11.xml" Id="Rc1d8114d1a424455" /><Relationship Type="http://schemas.openxmlformats.org/officeDocument/2006/relationships/slide" Target="/ppt/slides/slide12.xml" Id="R06c9f12c5a3d4224" /><Relationship Type="http://schemas.openxmlformats.org/officeDocument/2006/relationships/slide" Target="/ppt/slides/slide13.xml" Id="R72d1a21173e0481b" /><Relationship Type="http://schemas.openxmlformats.org/officeDocument/2006/relationships/slide" Target="/ppt/slides/slide14.xml" Id="R47a3f7485e464ece" /><Relationship Type="http://schemas.openxmlformats.org/officeDocument/2006/relationships/slide" Target="/ppt/slides/slide15.xml" Id="R4f55753098d340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先讲痛点：大模型本身无法直接操作外部世界，每个产品各自集成 API 成本高、不可复用。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强调 MCP 是协议而非某个产品；类比 USB-C 帮助非技术听众快速理解。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Host 是用户直接使用的 AI 应用；Client 是 Host 内的连接管理器；Server 暴露具体能力。通信基于 JSON-RPC。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Tools 最常用——AI 主动调用；Resources 是被动读取；Prompts 提供可复用的工作流模板。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4 steps with the GitHub example. Emphasize user approval for sensitive tool calls.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举听众熟悉的工具名；强调 MCP Server 一次开发、多个 Host 复用。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展示真实配置格式；提醒 Token 安全；指向官方 servers 仓库获取更多 Server。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收尾：MCP 让 AI 从聊天工具变成能行动的智能助手；鼓励听众访问官网了解更多。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0cfe4a4924a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59cd24f6649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bc30f9e4e47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6f9bcdd3345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a37eb4c0343a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3e90ecd51ac426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6a31bec80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d6cf071f4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7259c33024f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d121ceb7d444f" /><Relationship Type="http://schemas.openxmlformats.org/officeDocument/2006/relationships/notesSlide" Target="/ppt/notesSlides/notesSlide1.xml" Id="Rcfa554b4965b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a2e1a50eb45a6" /><Relationship Type="http://schemas.openxmlformats.org/officeDocument/2006/relationships/notesSlide" Target="/ppt/notesSlides/notesSlide2.xml" Id="Rf50b2643ffd34c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80416d9c742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245eca6b462c" /><Relationship Type="http://schemas.openxmlformats.org/officeDocument/2006/relationships/notesSlide" Target="/ppt/notesSlides/notesSlide3.xml" Id="R6a99c0ba496d4d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5142130d24371" /><Relationship Type="http://schemas.openxmlformats.org/officeDocument/2006/relationships/notesSlide" Target="/ppt/notesSlides/notesSlide4.xml" Id="Rd7eda2f7e7544e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0186721504c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0477c5dca464a" /><Relationship Type="http://schemas.openxmlformats.org/officeDocument/2006/relationships/notesSlide" Target="/ppt/notesSlides/notesSlide5.xml" Id="R489ae1dd70154a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5771a798c4c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f1a595d5e4eae" /><Relationship Type="http://schemas.openxmlformats.org/officeDocument/2006/relationships/notesSlide" Target="/ppt/notesSlides/notesSlide6.xml" Id="Rf37c2c7796a845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6a7d5b44640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75091811b4268" /><Relationship Type="http://schemas.openxmlformats.org/officeDocument/2006/relationships/notesSlide" Target="/ppt/notesSlides/notesSlide7.xml" Id="R36a2aa91c01148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7f8b1c65c40ad" /><Relationship Type="http://schemas.openxmlformats.org/officeDocument/2006/relationships/notesSlide" Target="/ppt/notesSlides/notesSlide8.xml" Id="Red37bdd6756b4c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980000"/>
            <a:ext cx="107532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Model Context Protocol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420000"/>
            <a:ext cx="1075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CADCFC"/>
                </a:solidFill>
                <a:latin typeface="Calibri"/>
                <a:ea typeface="Calibri"/>
              </a:rPr>
              <a:t>AI 与外部世界的连接标准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558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8899BB"/>
                </a:solidFill>
                <a:latin typeface="Calibri"/>
                <a:ea typeface="Calibri"/>
              </a:rPr>
              <a:t>MCP 技术介绍  ·  2026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0" y="6300000"/>
            <a:ext cx="12193200" cy="5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目录</a:t>
            </a:r>
          </a:p>
        </p:txBody>
      </p:sp>
      <p:sp>
        <p:nvSpPr>
          <p:cNvPr id="100005" name="TextBox 2"/>
          <p:cNvSpPr/>
          <p:nvPr/>
        </p:nvSpPr>
        <p:spPr>
          <a:xfrm xmlns:a="http://schemas.openxmlformats.org/drawingml/2006/main">
            <a:off x="457200" y="1620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457200" y="1620000"/>
            <a:ext cx="64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1260000" y="1656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背景与动机 — 为什么需要 MCP</a:t>
            </a:r>
          </a:p>
        </p:txBody>
      </p:sp>
      <p:sp>
        <p:nvSpPr>
          <p:cNvPr id="100008" name="TextBox 5"/>
          <p:cNvSpPr/>
          <p:nvPr/>
        </p:nvSpPr>
        <p:spPr>
          <a:xfrm xmlns:a="http://schemas.openxmlformats.org/drawingml/2006/main">
            <a:off x="457200" y="2520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TextBox 6"/>
          <p:cNvSpPr txBox="1"/>
          <p:nvPr/>
        </p:nvSpPr>
        <p:spPr>
          <a:xfrm xmlns:a="http://schemas.openxmlformats.org/drawingml/2006/main">
            <a:off x="457200" y="2520000"/>
            <a:ext cx="64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10" name="TextBox 7"/>
          <p:cNvSpPr txBox="1"/>
          <p:nvPr/>
        </p:nvSpPr>
        <p:spPr>
          <a:xfrm xmlns:a="http://schemas.openxmlformats.org/drawingml/2006/main">
            <a:off x="1260000" y="2556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核心架构 — Host、Client、Server</a:t>
            </a:r>
          </a:p>
        </p:txBody>
      </p:sp>
      <p:sp>
        <p:nvSpPr>
          <p:cNvPr id="100011" name="TextBox 8"/>
          <p:cNvSpPr/>
          <p:nvPr/>
        </p:nvSpPr>
        <p:spPr>
          <a:xfrm xmlns:a="http://schemas.openxmlformats.org/drawingml/2006/main">
            <a:off x="457200" y="3420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9"/>
          <p:cNvSpPr txBox="1"/>
          <p:nvPr/>
        </p:nvSpPr>
        <p:spPr>
          <a:xfrm xmlns:a="http://schemas.openxmlformats.org/drawingml/2006/main">
            <a:off x="457200" y="3420000"/>
            <a:ext cx="64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13" name="TextBox 10"/>
          <p:cNvSpPr txBox="1"/>
          <p:nvPr/>
        </p:nvSpPr>
        <p:spPr>
          <a:xfrm xmlns:a="http://schemas.openxmlformats.org/drawingml/2006/main">
            <a:off x="1260000" y="3456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工作流程 — 从配置到工具调用</a:t>
            </a:r>
          </a:p>
        </p:txBody>
      </p:sp>
      <p:sp>
        <p:nvSpPr>
          <p:cNvPr id="100014" name="TextBox 11"/>
          <p:cNvSpPr/>
          <p:nvPr/>
        </p:nvSpPr>
        <p:spPr>
          <a:xfrm xmlns:a="http://schemas.openxmlformats.org/drawingml/2006/main">
            <a:off x="457200" y="4320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TextBox 12"/>
          <p:cNvSpPr txBox="1"/>
          <p:nvPr/>
        </p:nvSpPr>
        <p:spPr>
          <a:xfrm xmlns:a="http://schemas.openxmlformats.org/drawingml/2006/main">
            <a:off x="457200" y="4320000"/>
            <a:ext cx="64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16" name="TextBox 13"/>
          <p:cNvSpPr txBox="1"/>
          <p:nvPr/>
        </p:nvSpPr>
        <p:spPr>
          <a:xfrm xmlns:a="http://schemas.openxmlformats.org/drawingml/2006/main">
            <a:off x="1260000" y="4356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应用场景 — IDE、数据库、浏览器</a:t>
            </a:r>
          </a:p>
        </p:txBody>
      </p:sp>
      <p:sp>
        <p:nvSpPr>
          <p:cNvPr id="100017" name="TextBox 14"/>
          <p:cNvSpPr/>
          <p:nvPr/>
        </p:nvSpPr>
        <p:spPr>
          <a:xfrm xmlns:a="http://schemas.openxmlformats.org/drawingml/2006/main">
            <a:off x="457200" y="5220000"/>
            <a:ext cx="648000" cy="6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15"/>
          <p:cNvSpPr txBox="1"/>
          <p:nvPr/>
        </p:nvSpPr>
        <p:spPr>
          <a:xfrm xmlns:a="http://schemas.openxmlformats.org/drawingml/2006/main">
            <a:off x="457200" y="5220000"/>
            <a:ext cx="64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00019" name="TextBox 16"/>
          <p:cNvSpPr txBox="1"/>
          <p:nvPr/>
        </p:nvSpPr>
        <p:spPr>
          <a:xfrm xmlns:a="http://schemas.openxmlformats.org/drawingml/2006/main">
            <a:off x="1260000" y="5256000"/>
            <a:ext cx="1008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快速开始 — 如何接入 MCP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2160000" y="27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背景与动机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LLM 的能力边界</a:t>
            </a:r>
          </a:p>
        </p:txBody>
      </p:sp>
      <p:sp>
        <p:nvSpPr>
          <p:cNvPr id="100024" name="TextBox 2"/>
          <p:cNvSpPr/>
          <p:nvPr/>
        </p:nvSpPr>
        <p:spPr>
          <a:xfrm xmlns:a="http://schemas.openxmlformats.org/drawingml/2006/main">
            <a:off x="457200" y="1512000"/>
            <a:ext cx="5220000" cy="1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3"/>
          <p:cNvSpPr txBox="1"/>
          <p:nvPr/>
        </p:nvSpPr>
        <p:spPr>
          <a:xfrm xmlns:a="http://schemas.openxmlformats.org/drawingml/2006/main">
            <a:off x="637200" y="1620000"/>
            <a:ext cx="48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LLM 擅长什么</a:t>
            </a:r>
          </a:p>
        </p:txBody>
      </p:sp>
      <p:sp>
        <p:nvSpPr>
          <p:cNvPr id="100026" name="TextBox 4"/>
          <p:cNvSpPr txBox="1"/>
          <p:nvPr/>
        </p:nvSpPr>
        <p:spPr>
          <a:xfrm xmlns:a="http://schemas.openxmlformats.org/drawingml/2006/main">
            <a:off x="637200" y="2160000"/>
            <a:ext cx="486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理解自然语言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推理与生成文本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总结与翻译</a:t>
            </a:r>
          </a:p>
        </p:txBody>
      </p:sp>
      <p:sp>
        <p:nvSpPr>
          <p:cNvPr id="100027" name="TextBox 5"/>
          <p:cNvSpPr/>
          <p:nvPr/>
        </p:nvSpPr>
        <p:spPr>
          <a:xfrm xmlns:a="http://schemas.openxmlformats.org/drawingml/2006/main">
            <a:off x="6156000" y="1512000"/>
            <a:ext cx="5220000" cy="1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TextBox 6"/>
          <p:cNvSpPr txBox="1"/>
          <p:nvPr/>
        </p:nvSpPr>
        <p:spPr>
          <a:xfrm xmlns:a="http://schemas.openxmlformats.org/drawingml/2006/main">
            <a:off x="6336000" y="1620000"/>
            <a:ext cx="48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LLM 不擅长什么</a:t>
            </a:r>
          </a:p>
        </p:txBody>
      </p:sp>
      <p:sp>
        <p:nvSpPr>
          <p:cNvPr id="100029" name="TextBox 7"/>
          <p:cNvSpPr txBox="1"/>
          <p:nvPr/>
        </p:nvSpPr>
        <p:spPr>
          <a:xfrm xmlns:a="http://schemas.openxmlformats.org/drawingml/2006/main">
            <a:off x="6336000" y="2160000"/>
            <a:ext cx="486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访问实时数据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操作本地文件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调用外部 API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连接数据库</a:t>
            </a:r>
          </a:p>
        </p:txBody>
      </p:sp>
      <p:sp>
        <p:nvSpPr>
          <p:cNvPr id="100030" name="TextBox 8"/>
          <p:cNvSpPr/>
          <p:nvPr/>
        </p:nvSpPr>
        <p:spPr>
          <a:xfrm xmlns:a="http://schemas.openxmlformats.org/drawingml/2006/main">
            <a:off x="5472000" y="2232000"/>
            <a:ext cx="900000" cy="54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9"/>
          <p:cNvSpPr txBox="1"/>
          <p:nvPr/>
        </p:nvSpPr>
        <p:spPr>
          <a:xfrm xmlns:a="http://schemas.openxmlformats.org/drawingml/2006/main">
            <a:off x="457200" y="4140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需要一种标准方式，让 AI 安全、可控地连接外部系统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MCP 是什么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457200" y="1440000"/>
            <a:ext cx="112788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TextBox 3"/>
          <p:cNvSpPr txBox="1"/>
          <p:nvPr/>
        </p:nvSpPr>
        <p:spPr>
          <a:xfrm xmlns:a="http://schemas.openxmlformats.org/drawingml/2006/main">
            <a:off x="720000" y="162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Model Context Protocol（模型上下文协议）</a:t>
            </a:r>
          </a:p>
        </p:txBody>
      </p:sp>
      <p:sp>
        <p:nvSpPr>
          <p:cNvPr id="100035" name="TextBox 4"/>
          <p:cNvSpPr txBox="1"/>
          <p:nvPr/>
        </p:nvSpPr>
        <p:spPr>
          <a:xfrm xmlns:a="http://schemas.openxmlformats.org/drawingml/2006/main">
            <a:off x="720000" y="2232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Anthropic 发起的开放标准，定义 AI 应用如何与外部数据源和工具通信</a:t>
            </a:r>
          </a:p>
        </p:txBody>
      </p:sp>
      <p:sp>
        <p:nvSpPr>
          <p:cNvPr id="100036" name="TextBox 5"/>
          <p:cNvSpPr txBox="1"/>
          <p:nvPr/>
        </p:nvSpPr>
        <p:spPr>
          <a:xfrm xmlns:a="http://schemas.openxmlformats.org/drawingml/2006/main">
            <a:off x="457200" y="3600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065A82"/>
                </a:solidFill>
                <a:latin typeface="Calibri"/>
                <a:ea typeface="Calibri"/>
              </a:rPr>
              <a:t>类比 USB-C：一个通用接口，连接 AI 与各种服务</a:t>
            </a:r>
          </a:p>
        </p:txBody>
      </p:sp>
      <p:sp>
        <p:nvSpPr>
          <p:cNvPr id="100037" name="TextBox 6"/>
          <p:cNvSpPr txBox="1"/>
          <p:nvPr/>
        </p:nvSpPr>
        <p:spPr>
          <a:xfrm xmlns:a="http://schemas.openxmlformats.org/drawingml/2006/main">
            <a:off x="457200" y="4680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8899BB"/>
                </a:solidFill>
                <a:latin typeface="Calibri"/>
                <a:ea typeface="Calibri"/>
              </a:rPr>
              <a:t>开源  ·  跨平台  ·  可扩展  ·  安全可控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TextBox 2"/>
          <p:cNvSpPr txBox="1"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040" name="TextBox 3"/>
          <p:cNvSpPr txBox="1"/>
          <p:nvPr/>
        </p:nvSpPr>
        <p:spPr>
          <a:xfrm xmlns:a="http://schemas.openxmlformats.org/drawingml/2006/main">
            <a:off x="2160000" y="27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核心架构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三层架构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457200" y="144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TextBox 3"/>
          <p:cNvSpPr txBox="1"/>
          <p:nvPr/>
        </p:nvSpPr>
        <p:spPr>
          <a:xfrm xmlns:a="http://schemas.openxmlformats.org/drawingml/2006/main">
            <a:off x="637200" y="1620000"/>
            <a:ext cx="30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Host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（宿主）</a:t>
            </a:r>
          </a:p>
        </p:txBody>
      </p:sp>
      <p:sp>
        <p:nvSpPr>
          <p:cNvPr id="100044" name="TextBox 4"/>
          <p:cNvSpPr txBox="1"/>
          <p:nvPr/>
        </p:nvSpPr>
        <p:spPr>
          <a:xfrm xmlns:a="http://schemas.openxmlformats.org/drawingml/2006/main">
            <a:off x="637200" y="2520000"/>
            <a:ext cx="30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Cursor、Claude Desktop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VS Code、IDE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4392000" y="144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TextBox 6"/>
          <p:cNvSpPr txBox="1"/>
          <p:nvPr/>
        </p:nvSpPr>
        <p:spPr>
          <a:xfrm xmlns:a="http://schemas.openxmlformats.org/drawingml/2006/main">
            <a:off x="4572000" y="1620000"/>
            <a:ext cx="30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Client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（客户端）</a:t>
            </a:r>
          </a:p>
        </p:txBody>
      </p:sp>
      <p:sp>
        <p:nvSpPr>
          <p:cNvPr id="100047" name="TextBox 7"/>
          <p:cNvSpPr txBox="1"/>
          <p:nvPr/>
        </p:nvSpPr>
        <p:spPr>
          <a:xfrm xmlns:a="http://schemas.openxmlformats.org/drawingml/2006/main">
            <a:off x="4572000" y="2520000"/>
            <a:ext cx="30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Host 内的 MCP 连接器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维护与服务器的 1:1 连接</a:t>
            </a: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8316000" y="144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9" name="TextBox 9"/>
          <p:cNvSpPr txBox="1"/>
          <p:nvPr/>
        </p:nvSpPr>
        <p:spPr>
          <a:xfrm xmlns:a="http://schemas.openxmlformats.org/drawingml/2006/main">
            <a:off x="8496000" y="1620000"/>
            <a:ext cx="30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Server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（服务端）</a:t>
            </a:r>
          </a:p>
        </p:txBody>
      </p:sp>
      <p:sp>
        <p:nvSpPr>
          <p:cNvPr id="100050" name="TextBox 10"/>
          <p:cNvSpPr txBox="1"/>
          <p:nvPr/>
        </p:nvSpPr>
        <p:spPr>
          <a:xfrm xmlns:a="http://schemas.openxmlformats.org/drawingml/2006/main">
            <a:off x="8496000" y="2520000"/>
            <a:ext cx="30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GitHub、数据库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浏览器、文件系统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3780000" y="2880000"/>
            <a:ext cx="720000" cy="43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899B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TextBox 12"/>
          <p:cNvSpPr/>
          <p:nvPr/>
        </p:nvSpPr>
        <p:spPr>
          <a:xfrm xmlns:a="http://schemas.openxmlformats.org/drawingml/2006/main">
            <a:off x="7704000" y="2880000"/>
            <a:ext cx="720000" cy="43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899B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3" name="TextBox 13"/>
          <p:cNvSpPr txBox="1"/>
          <p:nvPr/>
        </p:nvSpPr>
        <p:spPr>
          <a:xfrm xmlns:a="http://schemas.openxmlformats.org/drawingml/2006/main">
            <a:off x="457200" y="5580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8899BB"/>
                </a:solidFill>
                <a:latin typeface="Calibri"/>
                <a:ea typeface="Calibri"/>
              </a:rPr>
              <a:t>JSON-RPC 2.0  over  stdio / HTTP / SSE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4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三大核心原语</a:t>
            </a:r>
          </a:p>
        </p:txBody>
      </p:sp>
      <p:sp>
        <p:nvSpPr>
          <p:cNvPr id="100055" name="TextBox 2"/>
          <p:cNvSpPr/>
          <p:nvPr/>
        </p:nvSpPr>
        <p:spPr>
          <a:xfrm xmlns:a="http://schemas.openxmlformats.org/drawingml/2006/main">
            <a:off x="457200" y="1512000"/>
            <a:ext cx="3528000" cy="3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3"/>
          <p:cNvSpPr/>
          <p:nvPr/>
        </p:nvSpPr>
        <p:spPr>
          <a:xfrm xmlns:a="http://schemas.openxmlformats.org/drawingml/2006/main">
            <a:off x="1620000" y="1728000"/>
            <a:ext cx="108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7" name="TextBox 4"/>
          <p:cNvSpPr txBox="1"/>
          <p:nvPr/>
        </p:nvSpPr>
        <p:spPr>
          <a:xfrm xmlns:a="http://schemas.openxmlformats.org/drawingml/2006/main">
            <a:off x="1620000" y="1728000"/>
            <a:ext cx="1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T</a:t>
            </a:r>
          </a:p>
        </p:txBody>
      </p:sp>
      <p:sp>
        <p:nvSpPr>
          <p:cNvPr id="100058" name="TextBox 5"/>
          <p:cNvSpPr txBox="1"/>
          <p:nvPr/>
        </p:nvSpPr>
        <p:spPr>
          <a:xfrm xmlns:a="http://schemas.openxmlformats.org/drawingml/2006/main">
            <a:off x="637200" y="2952000"/>
            <a:ext cx="3168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Tools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（工具）</a:t>
            </a:r>
          </a:p>
        </p:txBody>
      </p:sp>
      <p:sp>
        <p:nvSpPr>
          <p:cNvPr id="100059" name="TextBox 6"/>
          <p:cNvSpPr txBox="1"/>
          <p:nvPr/>
        </p:nvSpPr>
        <p:spPr>
          <a:xfrm xmlns:a="http://schemas.openxmlformats.org/drawingml/2006/main">
            <a:off x="637200" y="3600000"/>
            <a:ext cx="316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AI 可调用的函数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如搜索、写文件、查数据库</a:t>
            </a:r>
          </a:p>
        </p:txBody>
      </p:sp>
      <p:sp>
        <p:nvSpPr>
          <p:cNvPr id="100060" name="TextBox 7"/>
          <p:cNvSpPr/>
          <p:nvPr/>
        </p:nvSpPr>
        <p:spPr>
          <a:xfrm xmlns:a="http://schemas.openxmlformats.org/drawingml/2006/main">
            <a:off x="4356000" y="1512000"/>
            <a:ext cx="3528000" cy="3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TextBox 8"/>
          <p:cNvSpPr/>
          <p:nvPr/>
        </p:nvSpPr>
        <p:spPr>
          <a:xfrm xmlns:a="http://schemas.openxmlformats.org/drawingml/2006/main">
            <a:off x="5508000" y="1728000"/>
            <a:ext cx="108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TextBox 9"/>
          <p:cNvSpPr txBox="1"/>
          <p:nvPr/>
        </p:nvSpPr>
        <p:spPr>
          <a:xfrm xmlns:a="http://schemas.openxmlformats.org/drawingml/2006/main">
            <a:off x="5508000" y="1728000"/>
            <a:ext cx="1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R</a:t>
            </a:r>
          </a:p>
        </p:txBody>
      </p:sp>
      <p:sp>
        <p:nvSpPr>
          <p:cNvPr id="100063" name="TextBox 10"/>
          <p:cNvSpPr txBox="1"/>
          <p:nvPr/>
        </p:nvSpPr>
        <p:spPr>
          <a:xfrm xmlns:a="http://schemas.openxmlformats.org/drawingml/2006/main">
            <a:off x="4536000" y="2952000"/>
            <a:ext cx="3168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Resources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（资源）</a:t>
            </a:r>
          </a:p>
        </p:txBody>
      </p:sp>
      <p:sp>
        <p:nvSpPr>
          <p:cNvPr id="100064" name="TextBox 11"/>
          <p:cNvSpPr txBox="1"/>
          <p:nvPr/>
        </p:nvSpPr>
        <p:spPr>
          <a:xfrm xmlns:a="http://schemas.openxmlformats.org/drawingml/2006/main">
            <a:off x="4536000" y="3600000"/>
            <a:ext cx="316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AI 可读取的数据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如文档、配置、日志</a:t>
            </a:r>
          </a:p>
        </p:txBody>
      </p:sp>
      <p:sp>
        <p:nvSpPr>
          <p:cNvPr id="100065" name="TextBox 12"/>
          <p:cNvSpPr/>
          <p:nvPr/>
        </p:nvSpPr>
        <p:spPr>
          <a:xfrm xmlns:a="http://schemas.openxmlformats.org/drawingml/2006/main">
            <a:off x="8244000" y="1512000"/>
            <a:ext cx="3528000" cy="3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TextBox 13"/>
          <p:cNvSpPr/>
          <p:nvPr/>
        </p:nvSpPr>
        <p:spPr>
          <a:xfrm xmlns:a="http://schemas.openxmlformats.org/drawingml/2006/main">
            <a:off x="9396000" y="1728000"/>
            <a:ext cx="108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7" name="TextBox 14"/>
          <p:cNvSpPr txBox="1"/>
          <p:nvPr/>
        </p:nvSpPr>
        <p:spPr>
          <a:xfrm xmlns:a="http://schemas.openxmlformats.org/drawingml/2006/main">
            <a:off x="9396000" y="1728000"/>
            <a:ext cx="1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P</a:t>
            </a:r>
          </a:p>
        </p:txBody>
      </p:sp>
      <p:sp>
        <p:nvSpPr>
          <p:cNvPr id="100068" name="TextBox 15"/>
          <p:cNvSpPr txBox="1"/>
          <p:nvPr/>
        </p:nvSpPr>
        <p:spPr>
          <a:xfrm xmlns:a="http://schemas.openxmlformats.org/drawingml/2006/main">
            <a:off x="8424000" y="2952000"/>
            <a:ext cx="3168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Prompts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（提示模板）</a:t>
            </a:r>
          </a:p>
        </p:txBody>
      </p:sp>
      <p:sp>
        <p:nvSpPr>
          <p:cNvPr id="100069" name="TextBox 16"/>
          <p:cNvSpPr txBox="1"/>
          <p:nvPr/>
        </p:nvSpPr>
        <p:spPr>
          <a:xfrm xmlns:a="http://schemas.openxmlformats.org/drawingml/2006/main">
            <a:off x="8424000" y="3600000"/>
            <a:ext cx="3168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预定义的提示词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引导 AI 完成特定任务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70" name="TextBox 1"/>
          <p:cNvSpPr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TextBox 2"/>
          <p:cNvSpPr txBox="1"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0072" name="TextBox 3"/>
          <p:cNvSpPr txBox="1"/>
          <p:nvPr/>
        </p:nvSpPr>
        <p:spPr>
          <a:xfrm xmlns:a="http://schemas.openxmlformats.org/drawingml/2006/main">
            <a:off x="2160000" y="27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工作流程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3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从配置到工具调用</a:t>
            </a:r>
          </a:p>
        </p:txBody>
      </p:sp>
      <p:sp>
        <p:nvSpPr>
          <p:cNvPr id="100074" name="TextBox 2"/>
          <p:cNvSpPr/>
          <p:nvPr/>
        </p:nvSpPr>
        <p:spPr>
          <a:xfrm xmlns:a="http://schemas.openxmlformats.org/drawingml/2006/main">
            <a:off x="457200" y="1620000"/>
            <a:ext cx="234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TextBox 3"/>
          <p:cNvSpPr txBox="1"/>
          <p:nvPr/>
        </p:nvSpPr>
        <p:spPr>
          <a:xfrm xmlns:a="http://schemas.openxmlformats.org/drawingml/2006/main">
            <a:off x="565200" y="172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1. 配置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MCP Server</a:t>
            </a:r>
          </a:p>
        </p:txBody>
      </p:sp>
      <p:sp>
        <p:nvSpPr>
          <p:cNvPr id="100076" name="TextBox 4"/>
          <p:cNvSpPr/>
          <p:nvPr/>
        </p:nvSpPr>
        <p:spPr>
          <a:xfrm xmlns:a="http://schemas.openxmlformats.org/drawingml/2006/main">
            <a:off x="2952000" y="1980000"/>
            <a:ext cx="540000" cy="43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899B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7" name="TextBox 5"/>
          <p:cNvSpPr/>
          <p:nvPr/>
        </p:nvSpPr>
        <p:spPr>
          <a:xfrm xmlns:a="http://schemas.openxmlformats.org/drawingml/2006/main">
            <a:off x="3636000" y="1620000"/>
            <a:ext cx="234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TextBox 6"/>
          <p:cNvSpPr txBox="1"/>
          <p:nvPr/>
        </p:nvSpPr>
        <p:spPr>
          <a:xfrm xmlns:a="http://schemas.openxmlformats.org/drawingml/2006/main">
            <a:off x="3744000" y="172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2. 建立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连接</a:t>
            </a:r>
          </a:p>
        </p:txBody>
      </p:sp>
      <p:sp>
        <p:nvSpPr>
          <p:cNvPr id="100079" name="TextBox 7"/>
          <p:cNvSpPr/>
          <p:nvPr/>
        </p:nvSpPr>
        <p:spPr>
          <a:xfrm xmlns:a="http://schemas.openxmlformats.org/drawingml/2006/main">
            <a:off x="6120000" y="1980000"/>
            <a:ext cx="540000" cy="43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899B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TextBox 8"/>
          <p:cNvSpPr/>
          <p:nvPr/>
        </p:nvSpPr>
        <p:spPr>
          <a:xfrm xmlns:a="http://schemas.openxmlformats.org/drawingml/2006/main">
            <a:off x="6804000" y="1620000"/>
            <a:ext cx="2340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1" name="TextBox 9"/>
          <p:cNvSpPr txBox="1"/>
          <p:nvPr/>
        </p:nvSpPr>
        <p:spPr>
          <a:xfrm xmlns:a="http://schemas.openxmlformats.org/drawingml/2006/main">
            <a:off x="6912000" y="172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3. 发现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Tools</a:t>
            </a:r>
          </a:p>
        </p:txBody>
      </p:sp>
      <p:sp>
        <p:nvSpPr>
          <p:cNvPr id="100082" name="TextBox 10"/>
          <p:cNvSpPr/>
          <p:nvPr/>
        </p:nvSpPr>
        <p:spPr>
          <a:xfrm xmlns:a="http://schemas.openxmlformats.org/drawingml/2006/main">
            <a:off x="9288000" y="1980000"/>
            <a:ext cx="540000" cy="43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899B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3" name="TextBox 11"/>
          <p:cNvSpPr/>
          <p:nvPr/>
        </p:nvSpPr>
        <p:spPr>
          <a:xfrm xmlns:a="http://schemas.openxmlformats.org/drawingml/2006/main">
            <a:off x="9972000" y="1620000"/>
            <a:ext cx="1764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TextBox 12"/>
          <p:cNvSpPr txBox="1"/>
          <p:nvPr/>
        </p:nvSpPr>
        <p:spPr>
          <a:xfrm xmlns:a="http://schemas.openxmlformats.org/drawingml/2006/main">
            <a:off x="10044000" y="1728000"/>
            <a:ext cx="16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4. 调用</a:t>
            </a:r>
          </a:p>
        </p:txBody>
      </p:sp>
      <p:sp>
        <p:nvSpPr>
          <p:cNvPr id="100085" name="TextBox 13"/>
          <p:cNvSpPr/>
          <p:nvPr/>
        </p:nvSpPr>
        <p:spPr>
          <a:xfrm xmlns:a="http://schemas.openxmlformats.org/drawingml/2006/main">
            <a:off x="457200" y="3420000"/>
            <a:ext cx="11278800" cy="1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TextBox 14"/>
          <p:cNvSpPr txBox="1"/>
          <p:nvPr/>
        </p:nvSpPr>
        <p:spPr>
          <a:xfrm xmlns:a="http://schemas.openxmlformats.org/drawingml/2006/main">
            <a:off x="720000" y="3600000"/>
            <a:ext cx="1080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示例：用户在 Cursor 中问「帮我查一下 GitHub 上的 open issues」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→ AI 选择 github MCP 的 search_issues 工具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→ Server 调用 GitHub API 返回结果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→ AI 整理结果回复用户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87" name="TextBox 1"/>
          <p:cNvSpPr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TextBox 2"/>
          <p:cNvSpPr txBox="1"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00089" name="TextBox 3"/>
          <p:cNvSpPr txBox="1"/>
          <p:nvPr/>
        </p:nvSpPr>
        <p:spPr>
          <a:xfrm xmlns:a="http://schemas.openxmlformats.org/drawingml/2006/main">
            <a:off x="2160000" y="27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应用场景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典型应用场景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457200" y="1512000"/>
            <a:ext cx="532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2" name="TextBox 3"/>
          <p:cNvSpPr txBox="1"/>
          <p:nvPr/>
        </p:nvSpPr>
        <p:spPr>
          <a:xfrm xmlns:a="http://schemas.openxmlformats.org/drawingml/2006/main">
            <a:off x="637200" y="1620000"/>
            <a:ext cx="496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IDE 与开发工具</a:t>
            </a:r>
          </a:p>
        </p:txBody>
      </p:sp>
      <p:sp>
        <p:nvSpPr>
          <p:cNvPr id="100093" name="TextBox 4"/>
          <p:cNvSpPr txBox="1"/>
          <p:nvPr/>
        </p:nvSpPr>
        <p:spPr>
          <a:xfrm xmlns:a="http://schemas.openxmlformats.org/drawingml/2006/main">
            <a:off x="637200" y="2160000"/>
            <a:ext cx="496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Cursor、VS Code 通过 MCP 连接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代码仓库、终端、浏览器调试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6228000" y="1512000"/>
            <a:ext cx="532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TextBox 6"/>
          <p:cNvSpPr txBox="1"/>
          <p:nvPr/>
        </p:nvSpPr>
        <p:spPr>
          <a:xfrm xmlns:a="http://schemas.openxmlformats.org/drawingml/2006/main">
            <a:off x="6408000" y="1620000"/>
            <a:ext cx="496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数据与知识库</a:t>
            </a:r>
          </a:p>
        </p:txBody>
      </p:sp>
      <p:sp>
        <p:nvSpPr>
          <p:cNvPr id="100096" name="TextBox 7"/>
          <p:cNvSpPr txBox="1"/>
          <p:nvPr/>
        </p:nvSpPr>
        <p:spPr>
          <a:xfrm xmlns:a="http://schemas.openxmlformats.org/drawingml/2006/main">
            <a:off x="6408000" y="2160000"/>
            <a:ext cx="496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连接 PostgreSQL、Notion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企业文档、Slack 消息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457200" y="3672000"/>
            <a:ext cx="532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4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8" name="TextBox 9"/>
          <p:cNvSpPr txBox="1"/>
          <p:nvPr/>
        </p:nvSpPr>
        <p:spPr>
          <a:xfrm xmlns:a="http://schemas.openxmlformats.org/drawingml/2006/main">
            <a:off x="637200" y="3780000"/>
            <a:ext cx="496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Web 与自动化</a:t>
            </a:r>
          </a:p>
        </p:txBody>
      </p:sp>
      <p:sp>
        <p:nvSpPr>
          <p:cNvPr id="100099" name="TextBox 10"/>
          <p:cNvSpPr txBox="1"/>
          <p:nvPr/>
        </p:nvSpPr>
        <p:spPr>
          <a:xfrm xmlns:a="http://schemas.openxmlformats.org/drawingml/2006/main">
            <a:off x="637200" y="4320000"/>
            <a:ext cx="496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浏览器自动化、网页抓取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Sentry、Datadog 监控集成</a:t>
            </a:r>
          </a:p>
        </p:txBody>
      </p:sp>
      <p:sp>
        <p:nvSpPr>
          <p:cNvPr id="100100" name="TextBox 11"/>
          <p:cNvSpPr/>
          <p:nvPr/>
        </p:nvSpPr>
        <p:spPr>
          <a:xfrm xmlns:a="http://schemas.openxmlformats.org/drawingml/2006/main">
            <a:off x="6228000" y="3672000"/>
            <a:ext cx="532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1" name="TextBox 12"/>
          <p:cNvSpPr txBox="1"/>
          <p:nvPr/>
        </p:nvSpPr>
        <p:spPr>
          <a:xfrm xmlns:a="http://schemas.openxmlformats.org/drawingml/2006/main">
            <a:off x="6408000" y="3780000"/>
            <a:ext cx="496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Calibri"/>
                <a:ea typeface="Calibri"/>
              </a:rPr>
              <a:t>办公与协作</a:t>
            </a:r>
          </a:p>
        </p:txBody>
      </p:sp>
      <p:sp>
        <p:nvSpPr>
          <p:cNvPr id="100102" name="TextBox 13"/>
          <p:cNvSpPr txBox="1"/>
          <p:nvPr/>
        </p:nvSpPr>
        <p:spPr>
          <a:xfrm xmlns:a="http://schemas.openxmlformats.org/drawingml/2006/main">
            <a:off x="6408000" y="4320000"/>
            <a:ext cx="496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Google Drive、Linear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Figma、Jira 项目管理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103" name="TextBox 1"/>
          <p:cNvSpPr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4" name="TextBox 2"/>
          <p:cNvSpPr txBox="1"/>
          <p:nvPr/>
        </p:nvSpPr>
        <p:spPr>
          <a:xfrm xmlns:a="http://schemas.openxmlformats.org/drawingml/2006/main">
            <a:off x="457200" y="2520000"/>
            <a:ext cx="12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100105" name="TextBox 3"/>
          <p:cNvSpPr txBox="1"/>
          <p:nvPr/>
        </p:nvSpPr>
        <p:spPr>
          <a:xfrm xmlns:a="http://schemas.openxmlformats.org/drawingml/2006/main">
            <a:off x="2160000" y="27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快速开始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6" name="TextBox 1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如何接入 MCP</a:t>
            </a:r>
          </a:p>
        </p:txBody>
      </p:sp>
      <p:sp>
        <p:nvSpPr>
          <p:cNvPr id="100107" name="TextBox 2"/>
          <p:cNvSpPr/>
          <p:nvPr/>
        </p:nvSpPr>
        <p:spPr>
          <a:xfrm xmlns:a="http://schemas.openxmlformats.org/drawingml/2006/main">
            <a:off x="457200" y="1440000"/>
            <a:ext cx="11278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374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8" name="TextBox 3"/>
          <p:cNvSpPr txBox="1"/>
          <p:nvPr/>
        </p:nvSpPr>
        <p:spPr>
          <a:xfrm xmlns:a="http://schemas.openxmlformats.org/drawingml/2006/main">
            <a:off x="720000" y="1620000"/>
            <a:ext cx="1062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// Cursor MCP 配置示例 (~/.cursor/mcp.json)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{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"mcpServers": {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  "github": {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    "command": "npx",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    "args": ["-y", "@modelcontextprotocol/server-github"],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    "env": { "GITHUB_TOKEN": "&lt;token&gt;" }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  }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  }</a:t>
            </a:r>
          </a:p>
          <a:p xmlns:a="http://schemas.openxmlformats.org/drawingml/2006/main">
            <a:r>
              <a:rPr lang="en-US" sz="1600">
                <a:solidFill>
                  <a:srgbClr val="02C39A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00109" name="TextBox 4"/>
          <p:cNvSpPr txBox="1"/>
          <p:nvPr/>
        </p:nvSpPr>
        <p:spPr>
          <a:xfrm xmlns:a="http://schemas.openxmlformats.org/drawingml/2006/main">
            <a:off x="457200" y="5760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8899BB"/>
                </a:solidFill>
                <a:latin typeface="Calibri"/>
                <a:ea typeface="Calibri"/>
              </a:rPr>
              <a:t>官方 SDK：TypeScript / Python  ·  社区 Server 生态：https://github.com/modelcontextprotocol/servers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110" name="TextBox 1"/>
          <p:cNvSpPr txBox="1"/>
          <p:nvPr/>
        </p:nvSpPr>
        <p:spPr>
          <a:xfrm xmlns:a="http://schemas.openxmlformats.org/drawingml/2006/main">
            <a:off x="457200" y="540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</a:rPr>
              <a:t>总结</a:t>
            </a:r>
          </a:p>
        </p:txBody>
      </p:sp>
      <p:sp>
        <p:nvSpPr>
          <p:cNvPr id="100111" name="TextBox 2"/>
          <p:cNvSpPr txBox="1"/>
          <p:nvPr/>
        </p:nvSpPr>
        <p:spPr>
          <a:xfrm xmlns:a="http://schemas.openxmlformats.org/drawingml/2006/main">
            <a:off x="720000" y="1980000"/>
            <a:ext cx="107532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CADCFC"/>
                </a:solidFill>
                <a:latin typeface="Calibri"/>
                <a:ea typeface="Calibri"/>
              </a:rPr>
              <a:t>MCP 是 AI 连接外部世界的标准协议</a:t>
            </a:r>
          </a:p>
          <a:p xmlns:a="http://schemas.openxmlformats.org/drawingml/2006/main">
            <a:pPr algn="ctr"/>
            <a:r>
              <a:rPr lang="en-US" sz="2400">
                <a:solidFill>
                  <a:srgbClr val="CADCFC"/>
                </a:solidFill>
                <a:latin typeface="Calibri"/>
                <a:ea typeface="Calibri"/>
              </a:rPr>
              <a:t>一次集成，多处复用</a:t>
            </a:r>
          </a:p>
          <a:p xmlns:a="http://schemas.openxmlformats.org/drawingml/2006/main">
            <a:pPr algn="ctr"/>
            <a:r>
              <a:rPr lang="en-US" sz="2400">
                <a:solidFill>
                  <a:srgbClr val="CADCFC"/>
                </a:solidFill>
                <a:latin typeface="Calibri"/>
                <a:ea typeface="Calibri"/>
              </a:rPr>
              <a:t>开放生态，持续扩展</a:t>
            </a:r>
          </a:p>
        </p:txBody>
      </p:sp>
      <p:sp>
        <p:nvSpPr>
          <p:cNvPr id="100112" name="TextBox 3"/>
          <p:cNvSpPr txBox="1"/>
          <p:nvPr/>
        </p:nvSpPr>
        <p:spPr>
          <a:xfrm xmlns:a="http://schemas.openxmlformats.org/drawingml/2006/main">
            <a:off x="720000" y="4680000"/>
            <a:ext cx="1075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modelcontextprotocol.io</a:t>
            </a:r>
          </a:p>
        </p:txBody>
      </p:sp>
      <p:sp>
        <p:nvSpPr>
          <p:cNvPr id="100113" name="TextBox 4"/>
          <p:cNvSpPr txBox="1"/>
          <p:nvPr/>
        </p:nvSpPr>
        <p:spPr>
          <a:xfrm xmlns:a="http://schemas.openxmlformats.org/drawingml/2006/main">
            <a:off x="720000" y="558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8899BB"/>
                </a:solidFill>
                <a:latin typeface="Calibri"/>
                <a:ea typeface="Calibri"/>
              </a:rPr>
              <a:t>感谢聆听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2026-07-01T14:02:41Z</dcterms:created>
  <cp:lastModifiedBy>OfficeCLI</cp:lastModifiedBy>
  <dcterms:modified xsi:type="dcterms:W3CDTF">2026-07-01T14:02:41Z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1.0.126</vt:lpwstr>
  </op:property>
  <op:property fmtid="{D5CDD505-2E9C-101B-9397-08002B2CF9AE}" pid="3" name="OfficeCLI.LastModified">
    <vt:lpwstr xmlns:vt="http://schemas.openxmlformats.org/officeDocument/2006/docPropsVTypes">2026-07-01T14:03:05Z</vt:lpwstr>
  </op:property>
</op:Properties>
</file>