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35e62c6205d4b7e" /><Relationship Type="http://schemas.openxmlformats.org/package/2006/relationships/metadata/core-properties" Target="/docProps/core.xml" Id="R864c594866d24919" /><Relationship Type="http://schemas.openxmlformats.org/officeDocument/2006/relationships/extended-properties" Target="/docProps/app.xml" Id="Rba31834416ee4c6e" /><Relationship Type="http://schemas.openxmlformats.org/officeDocument/2006/relationships/custom-properties" Target="/docProps/custom.xml" Id="R134fe7fda65745b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d09b845acf6540a7"/>
    <p:sldId id="257" r:id="R08b551e12a6848a0"/>
    <p:sldId id="258" r:id="R2036c859307f4ced"/>
    <p:sldId id="259" r:id="R4d10936201cc4778"/>
    <p:sldId id="260" r:id="R3dc999115c724ac2"/>
    <p:sldId id="261" r:id="R79485d47556b4112"/>
    <p:sldId id="262" r:id="Rbc645786103d4365"/>
    <p:sldId id="263" r:id="R21844dc905224c23"/>
    <p:sldId id="264" r:id="Rb4edb1ef96d94d15"/>
    <p:sldId id="265" r:id="R9726ec10c4354a0a"/>
    <p:sldId id="266" r:id="R72c17a3a322f4886"/>
    <p:sldId id="267" r:id="R78e44eb5cd34422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d09b845acf6540a7" /><Relationship Type="http://schemas.openxmlformats.org/officeDocument/2006/relationships/slide" Target="/ppt/slides/slide2.xml" Id="R08b551e12a6848a0" /><Relationship Type="http://schemas.openxmlformats.org/officeDocument/2006/relationships/slide" Target="/ppt/slides/slide3.xml" Id="R2036c859307f4ced" /><Relationship Type="http://schemas.openxmlformats.org/officeDocument/2006/relationships/slide" Target="/ppt/slides/slide4.xml" Id="R4d10936201cc4778" /><Relationship Type="http://schemas.openxmlformats.org/officeDocument/2006/relationships/slide" Target="/ppt/slides/slide5.xml" Id="R3dc999115c724ac2" /><Relationship Type="http://schemas.openxmlformats.org/officeDocument/2006/relationships/slide" Target="/ppt/slides/slide6.xml" Id="R79485d47556b4112" /><Relationship Type="http://schemas.openxmlformats.org/officeDocument/2006/relationships/slide" Target="/ppt/slides/slide7.xml" Id="Rbc645786103d4365" /><Relationship Type="http://schemas.openxmlformats.org/officeDocument/2006/relationships/slide" Target="/ppt/slides/slide8.xml" Id="R21844dc905224c23" /><Relationship Type="http://schemas.openxmlformats.org/officeDocument/2006/relationships/slide" Target="/ppt/slides/slide9.xml" Id="Rb4edb1ef96d94d15" /><Relationship Type="http://schemas.openxmlformats.org/officeDocument/2006/relationships/slide" Target="/ppt/slides/slide10.xml" Id="R9726ec10c4354a0a" /><Relationship Type="http://schemas.openxmlformats.org/officeDocument/2006/relationships/slide" Target="/ppt/slides/slide11.xml" Id="R72c17a3a322f4886" /><Relationship Type="http://schemas.openxmlformats.org/officeDocument/2006/relationships/slide" Target="/ppt/slides/slide12.xml" Id="R78e44eb5cd34422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开场：MCP 是 Anthropic 提出的开放协议，解决 AI 与外部工具/数据连接的标准化问题。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MCP 不是某个产品，而是一套协议规范。核心思想：AI 不应该为每个数据源单独写集成代码。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强调集成成本从乘法变加法，这是 MCP 最大的工程价值。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Host 是用户直接交互的应用（如 Cursor、Claude Desktop）。Client 由 Host 内置，每个 Server 对应一个 Client 连接。</a:t>
            </a:r>
          </a:p>
        </p:txBody>
      </p:sp>
    </p:spTree>
  </p:cSld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Tools 是主动的，Resources 是被动的，Prompts 是结构化的预定义工作流。</a:t>
            </a:r>
          </a:p>
        </p:txBody>
      </p:sp>
    </p:spTree>
  </p:cSld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Human-in-the-loop 是 MCP 安全设计的重要部分。</a:t>
            </a:r>
          </a:p>
        </p:txBody>
      </p:sp>
    </p:spTree>
  </p:cSld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stdio 是最常见的本地部署方式；Streamable HTTP 是远程传输方案。</a:t>
            </a:r>
          </a:p>
        </p:txBody>
      </p:sp>
    </p:spTree>
  </p:cSld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配置文件通常在 .cursor/mcp.json 中。</a:t>
            </a:r>
          </a:p>
        </p:txBody>
      </p:sp>
    </p:spTree>
  </p:cSld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MCP 生态已有数百个 Server，覆盖开发、办公、数据等领域。</a:t>
            </a:r>
          </a:p>
        </p:txBody>
      </p:sp>
    </p:spTree>
  </p:cSld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推荐从 TypeScript 或 Python SDK 入手。</a:t>
            </a:r>
          </a:p>
        </p:txBody>
      </p:sp>
    </p:spTree>
  </p:cSld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MCP 正在成为 AI 应用的基础设施层。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a13489cb4b48f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b604c8ba24464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3720149a1f48c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58369af8184a5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d06d6f962645d6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292b2a213e7c4245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2bf6f416784bdf" /><Relationship Type="http://schemas.openxmlformats.org/officeDocument/2006/relationships/notesSlide" Target="/ppt/notesSlides/notesSlide1.xml" Id="Rd6965d7115844f5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046262280774145" /><Relationship Type="http://schemas.openxmlformats.org/officeDocument/2006/relationships/notesSlide" Target="/ppt/notesSlides/notesSlide2.xml" Id="R62f289c4b5ec48b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0c02b2863044a73" /><Relationship Type="http://schemas.openxmlformats.org/officeDocument/2006/relationships/notesSlide" Target="/ppt/notesSlides/notesSlide3.xml" Id="R0b3f696c19244c8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8dce2ae29db473d" /><Relationship Type="http://schemas.openxmlformats.org/officeDocument/2006/relationships/notesSlide" Target="/ppt/notesSlides/notesSlide4.xml" Id="Rd003c45f69564f7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8d969e862b54821" /><Relationship Type="http://schemas.openxmlformats.org/officeDocument/2006/relationships/notesSlide" Target="/ppt/notesSlides/notesSlide5.xml" Id="R8b847edf22a74ea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16d5a51c17044f6" /><Relationship Type="http://schemas.openxmlformats.org/officeDocument/2006/relationships/notesSlide" Target="/ppt/notesSlides/notesSlide6.xml" Id="Rb1ec67918867457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c249ace36de486d" /><Relationship Type="http://schemas.openxmlformats.org/officeDocument/2006/relationships/notesSlide" Target="/ppt/notesSlides/notesSlide7.xml" Id="Rc4fb0eeea1f84b2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d547d58005d46f6" /><Relationship Type="http://schemas.openxmlformats.org/officeDocument/2006/relationships/notesSlide" Target="/ppt/notesSlides/notesSlide8.xml" Id="R122fbaf8bd72472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851deac515d447d" /><Relationship Type="http://schemas.openxmlformats.org/officeDocument/2006/relationships/notesSlide" Target="/ppt/notesSlides/notesSlide9.xml" Id="Rdd14927a1455413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8af6018bf6e4400" /><Relationship Type="http://schemas.openxmlformats.org/officeDocument/2006/relationships/notesSlide" Target="/ppt/notesSlides/notesSlide10.xml" Id="Rad1419245505426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b4b8b566e964780" /><Relationship Type="http://schemas.openxmlformats.org/officeDocument/2006/relationships/notesSlide" Target="/ppt/notesSlides/notesSlide11.xml" Id="Rb9dd10f7df8d428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697d658b124ebf" 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400">
                <a:solidFill>
                  <a:srgbClr val="FFFFFF"/>
                </a:solidFill>
              </a:rPr>
              <a:t>MCP 介绍</a:t>
            </a:r>
          </a:p>
        </p:txBody>
      </p:sp>
      <p:sp>
        <p:nvSpPr>
          <p:cNvPr id="100000" name="TextBox 2"/>
          <p:cNvSpPr txBox="1"/>
          <p:nvPr/>
        </p:nvSpPr>
        <p:spPr>
          <a:xfrm xmlns:a="http://schemas.openxmlformats.org/drawingml/2006/main">
            <a:off x="540000" y="2160000"/>
            <a:ext cx="1008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>
                <a:solidFill>
                  <a:srgbClr val="FFFFFF"/>
                </a:solidFill>
                <a:latin typeface="Calibri"/>
                <a:ea typeface="Calibri"/>
              </a:rPr>
              <a:t>Model Context Protocol — 让 AI 连接外部世界的开放协议</a:t>
            </a:r>
          </a:p>
        </p:txBody>
      </p:sp>
      <p:sp>
        <p:nvSpPr>
          <p:cNvPr id="100001" name="TextBox 3"/>
          <p:cNvSpPr txBox="1"/>
          <p:nvPr/>
        </p:nvSpPr>
        <p:spPr>
          <a:xfrm xmlns:a="http://schemas.openxmlformats.org/drawingml/2006/main">
            <a:off x="540000" y="5040000"/>
            <a:ext cx="36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B0BEC5"/>
                </a:solidFill>
                <a:latin typeface="Calibri"/>
                <a:ea typeface="Calibri"/>
              </a:rPr>
              <a:t>2026年6月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AFAFA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什么是 MCP？</a:t>
            </a:r>
          </a:p>
        </p:txBody>
      </p:sp>
      <p:sp>
        <p:nvSpPr>
          <p:cNvPr id="100002" name="TextBox 2"/>
          <p:cNvSpPr txBox="1"/>
          <p:nvPr/>
        </p:nvSpPr>
        <p:spPr>
          <a:xfrm xmlns:a="http://schemas.openxmlformats.org/drawingml/2006/main">
            <a:off x="720000" y="1440000"/>
            <a:ext cx="936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>
                <a:solidFill>
                  <a:srgbClr val="263238"/>
                </a:solidFill>
                <a:latin typeface="Calibri"/>
                <a:ea typeface="Calibri"/>
              </a:rPr>
              <a:t>MCP（Model Context Protocol）是连接 AI 应用与外部系统的开放标准协议。</a:t>
            </a:r>
          </a:p>
        </p:txBody>
      </p:sp>
      <p:sp>
        <p:nvSpPr>
          <p:cNvPr id="100003" name="TextBox 3"/>
          <p:cNvSpPr txBox="1"/>
          <p:nvPr/>
        </p:nvSpPr>
        <p:spPr>
          <a:xfrm xmlns:a="http://schemas.openxmlformats.org/drawingml/2006/main">
            <a:off x="720000" y="2160000"/>
            <a:ext cx="9360000" cy="21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• 由 Anthropic 于 2024 年 11 月开源发布</a:t>
            </a:r>
          </a:p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• 类比 USB-C：统一接口，即插即用</a:t>
            </a:r>
          </a:p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• 让 LLM 安全、标准化地访问工具与数据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AFAFA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为什么需要 MCP？</a:t>
            </a:r>
          </a:p>
        </p:txBody>
      </p:sp>
      <p:sp>
        <p:nvSpPr>
          <p:cNvPr id="100004" name="TextBox 2"/>
          <p:cNvSpPr txBox="1"/>
          <p:nvPr/>
        </p:nvSpPr>
        <p:spPr>
          <a:xfrm xmlns:a="http://schemas.openxmlformats.org/drawingml/2006/main">
            <a:off x="720000" y="1440000"/>
            <a:ext cx="936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62828"/>
                </a:solidFill>
                <a:latin typeface="Calibri"/>
                <a:ea typeface="Calibri"/>
              </a:rPr>
              <a:t>传统方式：N 个数据源 × M 个 AI 应用 = N×M 个集成</a:t>
            </a:r>
          </a:p>
        </p:txBody>
      </p:sp>
      <p:sp>
        <p:nvSpPr>
          <p:cNvPr id="100005" name="TextBox 3"/>
          <p:cNvSpPr txBox="1"/>
          <p:nvPr/>
        </p:nvSpPr>
        <p:spPr>
          <a:xfrm xmlns:a="http://schemas.openxmlformats.org/drawingml/2006/main">
            <a:off x="720000" y="2160000"/>
            <a:ext cx="936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E7D32"/>
                </a:solidFill>
                <a:latin typeface="Calibri"/>
                <a:ea typeface="Calibri"/>
              </a:rPr>
              <a:t>MCP 方式：N 个 MCP Server + M 个 MCP Client = N+M 个集成</a:t>
            </a:r>
          </a:p>
        </p:txBody>
      </p:sp>
      <p:sp>
        <p:nvSpPr>
          <p:cNvPr id="100006" name="TextBox 4"/>
          <p:cNvSpPr txBox="1"/>
          <p:nvPr/>
        </p:nvSpPr>
        <p:spPr>
          <a:xfrm xmlns:a="http://schemas.openxmlformats.org/drawingml/2006/main">
            <a:off x="720000" y="3060000"/>
            <a:ext cx="9360000" cy="18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• 一次开发，多处复用</a:t>
            </a:r>
          </a:p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• 安全边界清晰（Host 控制权限）</a:t>
            </a:r>
          </a:p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• 社区生态快速扩展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AFAFA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核心架构</a:t>
            </a:r>
          </a:p>
        </p:txBody>
      </p:sp>
      <p:sp>
        <p:nvSpPr>
          <p:cNvPr id="100007" name="TextBox 2"/>
          <p:cNvSpPr txBox="1"/>
          <p:nvPr/>
        </p:nvSpPr>
        <p:spPr>
          <a:xfrm xmlns:a="http://schemas.openxmlformats.org/drawingml/2006/main">
            <a:off x="720000" y="1440000"/>
            <a:ext cx="9360000" cy="28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263238"/>
                </a:solidFill>
                <a:latin typeface="Consolas"/>
                <a:ea typeface="Consolas"/>
              </a:rPr>
              <a:t>MCP Host（AI 应用）</a:t>
            </a:r>
          </a:p>
          <a:p xmlns:a="http://schemas.openxmlformats.org/drawingml/2006/main">
            <a:r>
              <a:rPr lang="en-US" sz="1600">
                <a:solidFill>
                  <a:srgbClr val="263238"/>
                </a:solidFill>
                <a:latin typeface="Consolas"/>
                <a:ea typeface="Consolas"/>
              </a:rPr>
              <a:t>    ↕ JSON-RPC 2.0</a:t>
            </a:r>
          </a:p>
          <a:p xmlns:a="http://schemas.openxmlformats.org/drawingml/2006/main">
            <a:r>
              <a:rPr lang="en-US" sz="1600">
                <a:solidFill>
                  <a:srgbClr val="263238"/>
                </a:solidFill>
                <a:latin typeface="Consolas"/>
                <a:ea typeface="Consolas"/>
              </a:rPr>
              <a:t>MCP Client（协议客户端，1:1 连接 Server）</a:t>
            </a:r>
          </a:p>
          <a:p xmlns:a="http://schemas.openxmlformats.org/drawingml/2006/main">
            <a:r>
              <a:rPr lang="en-US" sz="1600">
                <a:solidFill>
                  <a:srgbClr val="263238"/>
                </a:solidFill>
                <a:latin typeface="Consolas"/>
                <a:ea typeface="Consolas"/>
              </a:rPr>
              <a:t>    ↕</a:t>
            </a:r>
          </a:p>
          <a:p xmlns:a="http://schemas.openxmlformats.org/drawingml/2006/main">
            <a:r>
              <a:rPr lang="en-US" sz="1600">
                <a:solidFill>
                  <a:srgbClr val="263238"/>
                </a:solidFill>
                <a:latin typeface="Consolas"/>
                <a:ea typeface="Consolas"/>
              </a:rPr>
              <a:t>MCP Server（暴露 Tools / Resources / Prompts）</a:t>
            </a:r>
          </a:p>
          <a:p xmlns:a="http://schemas.openxmlformats.org/drawingml/2006/main">
            <a:r>
              <a:rPr lang="en-US" sz="1600">
                <a:solidFill>
                  <a:srgbClr val="263238"/>
                </a:solidFill>
                <a:latin typeface="Consolas"/>
                <a:ea typeface="Consolas"/>
              </a:rPr>
              <a:t>    ↕</a:t>
            </a:r>
          </a:p>
          <a:p xmlns:a="http://schemas.openxmlformats.org/drawingml/2006/main">
            <a:r>
              <a:rPr lang="en-US" sz="1600">
                <a:solidFill>
                  <a:srgbClr val="263238"/>
                </a:solidFill>
                <a:latin typeface="Consolas"/>
                <a:ea typeface="Consolas"/>
              </a:rPr>
              <a:t>本地数据 · API · 数据库 · 文件系统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AFAFA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三大核心能力</a:t>
            </a:r>
          </a:p>
        </p:txBody>
      </p:sp>
      <p:sp>
        <p:nvSpPr>
          <p:cNvPr id="100008" name="TextBox 2"/>
          <p:cNvSpPr txBox="1"/>
          <p:nvPr/>
        </p:nvSpPr>
        <p:spPr>
          <a:xfrm xmlns:a="http://schemas.openxmlformats.org/drawingml/2006/main">
            <a:off x="720000" y="1440000"/>
            <a:ext cx="288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565C0"/>
                </a:solidFill>
                <a:latin typeface="Calibri"/>
                <a:ea typeface="Calibri"/>
              </a:rPr>
              <a:t>Tools（工具）</a:t>
            </a:r>
          </a:p>
        </p:txBody>
      </p:sp>
      <p:sp>
        <p:nvSpPr>
          <p:cNvPr id="100009" name="TextBox 3"/>
          <p:cNvSpPr txBox="1"/>
          <p:nvPr/>
        </p:nvSpPr>
        <p:spPr>
          <a:xfrm xmlns:a="http://schemas.openxmlformats.org/drawingml/2006/main">
            <a:off x="720000" y="1980000"/>
            <a:ext cx="2880000" cy="10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37474F"/>
                </a:solidFill>
                <a:latin typeface="Calibri"/>
                <a:ea typeface="Calibri"/>
              </a:rPr>
              <a:t>LLM 可主动调用的函数</a:t>
            </a:r>
          </a:p>
          <a:p xmlns:a="http://schemas.openxmlformats.org/drawingml/2006/main">
            <a:r>
              <a:rPr lang="en-US" sz="1600">
                <a:solidFill>
                  <a:srgbClr val="37474F"/>
                </a:solidFill>
                <a:latin typeface="Calibri"/>
                <a:ea typeface="Calibri"/>
              </a:rPr>
              <a:t>例：搜索代码、发邮件、查数据库</a:t>
            </a:r>
          </a:p>
        </p:txBody>
      </p:sp>
      <p:sp>
        <p:nvSpPr>
          <p:cNvPr id="100010" name="TextBox 4"/>
          <p:cNvSpPr txBox="1"/>
          <p:nvPr/>
        </p:nvSpPr>
        <p:spPr>
          <a:xfrm xmlns:a="http://schemas.openxmlformats.org/drawingml/2006/main">
            <a:off x="3960000" y="1440000"/>
            <a:ext cx="288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6A1B9A"/>
                </a:solidFill>
                <a:latin typeface="Calibri"/>
                <a:ea typeface="Calibri"/>
              </a:rPr>
              <a:t>Resources（资源）</a:t>
            </a:r>
          </a:p>
        </p:txBody>
      </p:sp>
      <p:sp>
        <p:nvSpPr>
          <p:cNvPr id="100011" name="TextBox 5"/>
          <p:cNvSpPr txBox="1"/>
          <p:nvPr/>
        </p:nvSpPr>
        <p:spPr>
          <a:xfrm xmlns:a="http://schemas.openxmlformats.org/drawingml/2006/main">
            <a:off x="3960000" y="1980000"/>
            <a:ext cx="2880000" cy="10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37474F"/>
                </a:solidFill>
                <a:latin typeface="Calibri"/>
                <a:ea typeface="Calibri"/>
              </a:rPr>
              <a:t>只读上下文数据</a:t>
            </a:r>
          </a:p>
          <a:p xmlns:a="http://schemas.openxmlformats.org/drawingml/2006/main">
            <a:r>
              <a:rPr lang="en-US" sz="1600">
                <a:solidFill>
                  <a:srgbClr val="37474F"/>
                </a:solidFill>
                <a:latin typeface="Calibri"/>
                <a:ea typeface="Calibri"/>
              </a:rPr>
              <a:t>例：文件内容、API 响应、日志</a:t>
            </a:r>
          </a:p>
        </p:txBody>
      </p:sp>
      <p:sp>
        <p:nvSpPr>
          <p:cNvPr id="100012" name="TextBox 6"/>
          <p:cNvSpPr txBox="1"/>
          <p:nvPr/>
        </p:nvSpPr>
        <p:spPr>
          <a:xfrm xmlns:a="http://schemas.openxmlformats.org/drawingml/2006/main">
            <a:off x="7200000" y="1440000"/>
            <a:ext cx="288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EF6C00"/>
                </a:solidFill>
                <a:latin typeface="Calibri"/>
                <a:ea typeface="Calibri"/>
              </a:rPr>
              <a:t>Prompts（提示模板）</a:t>
            </a:r>
          </a:p>
        </p:txBody>
      </p:sp>
      <p:sp>
        <p:nvSpPr>
          <p:cNvPr id="100013" name="TextBox 7"/>
          <p:cNvSpPr txBox="1"/>
          <p:nvPr/>
        </p:nvSpPr>
        <p:spPr>
          <a:xfrm xmlns:a="http://schemas.openxmlformats.org/drawingml/2006/main">
            <a:off x="7200000" y="1980000"/>
            <a:ext cx="2880000" cy="10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37474F"/>
                </a:solidFill>
                <a:latin typeface="Calibri"/>
                <a:ea typeface="Calibri"/>
              </a:rPr>
              <a:t>可复用的交互模板</a:t>
            </a:r>
          </a:p>
          <a:p xmlns:a="http://schemas.openxmlformats.org/drawingml/2006/main">
            <a:r>
              <a:rPr lang="en-US" sz="1600">
                <a:solidFill>
                  <a:srgbClr val="37474F"/>
                </a:solidFill>
                <a:latin typeface="Calibri"/>
                <a:ea typeface="Calibri"/>
              </a:rPr>
              <a:t>例：代码审查、Bug 分析工作流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AFAFA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Tools 详解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720000" y="1440000"/>
            <a:ext cx="936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63238"/>
                </a:solidFill>
                <a:latin typeface="Calibri"/>
                <a:ea typeface="Calibri"/>
              </a:rPr>
              <a:t>工具定义包含：name、description、inputSchema（JSON Schema）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720000" y="2160000"/>
            <a:ext cx="9360000" cy="21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调用流程：</a:t>
            </a:r>
          </a:p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1. LLM 根据用户意图选择工具</a:t>
            </a:r>
          </a:p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2. Host 展示工具调用请求（可需用户确认）</a:t>
            </a:r>
          </a:p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3. Client 通过 JSON-RPC 发送 tools/call</a:t>
            </a:r>
          </a:p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4. Server 执行并返回 structured content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AFAFA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传输层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720000" y="1620000"/>
            <a:ext cx="432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1565C0"/>
                </a:solidFill>
                <a:latin typeface="Calibri"/>
                <a:ea typeface="Calibri"/>
              </a:rPr>
              <a:t>stdio</a:t>
            </a:r>
          </a:p>
        </p:txBody>
      </p:sp>
      <p:sp>
        <p:nvSpPr>
          <p:cNvPr id="100017" name="TextBox 3"/>
          <p:cNvSpPr txBox="1"/>
          <p:nvPr/>
        </p:nvSpPr>
        <p:spPr>
          <a:xfrm xmlns:a="http://schemas.openxmlformats.org/drawingml/2006/main">
            <a:off x="720000" y="2160000"/>
            <a:ext cx="432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37474F"/>
                </a:solidFill>
                <a:latin typeface="Calibri"/>
                <a:ea typeface="Calibri"/>
              </a:rPr>
              <a:t>本地进程通信，通过 stdin/stdout 交换 JSON-RPC 消息。适合本地 MCP Server。</a:t>
            </a:r>
          </a:p>
        </p:txBody>
      </p:sp>
      <p:sp>
        <p:nvSpPr>
          <p:cNvPr id="100018" name="TextBox 4"/>
          <p:cNvSpPr txBox="1"/>
          <p:nvPr/>
        </p:nvSpPr>
        <p:spPr>
          <a:xfrm xmlns:a="http://schemas.openxmlformats.org/drawingml/2006/main">
            <a:off x="5400000" y="1620000"/>
            <a:ext cx="432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6A1B9A"/>
                </a:solidFill>
                <a:latin typeface="Calibri"/>
                <a:ea typeface="Calibri"/>
              </a:rPr>
              <a:t>Streamable HTTP</a:t>
            </a:r>
          </a:p>
        </p:txBody>
      </p:sp>
      <p:sp>
        <p:nvSpPr>
          <p:cNvPr id="100019" name="TextBox 5"/>
          <p:cNvSpPr txBox="1"/>
          <p:nvPr/>
        </p:nvSpPr>
        <p:spPr>
          <a:xfrm xmlns:a="http://schemas.openxmlformats.org/drawingml/2006/main">
            <a:off x="5400000" y="2160000"/>
            <a:ext cx="432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37474F"/>
                </a:solidFill>
                <a:latin typeface="Calibri"/>
                <a:ea typeface="Calibri"/>
              </a:rPr>
              <a:t>基于 HTTP 的远程通信，支持 SSE 流式响应。适合云端服务和远程 API 集成。</a:t>
            </a:r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AFAFA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配置示例（Cursor）</a:t>
            </a:r>
          </a:p>
        </p:txBody>
      </p:sp>
      <p:sp>
        <p:nvSpPr>
          <p:cNvPr id="100020" name="TextBox 2"/>
          <p:cNvSpPr txBox="1"/>
          <p:nvPr/>
        </p:nvSpPr>
        <p:spPr>
          <a:xfrm xmlns:a="http://schemas.openxmlformats.org/drawingml/2006/main">
            <a:off x="720000" y="1440000"/>
            <a:ext cx="9360000" cy="32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263238"/>
                </a:solidFill>
                <a:latin typeface="Consolas"/>
                <a:ea typeface="Consolas"/>
              </a:rPr>
              <a:t>{</a:t>
            </a:r>
          </a:p>
          <a:p xmlns:a="http://schemas.openxmlformats.org/drawingml/2006/main">
            <a:r>
              <a:rPr lang="en-US" sz="1400">
                <a:solidFill>
                  <a:srgbClr val="263238"/>
                </a:solidFill>
                <a:latin typeface="Consolas"/>
                <a:ea typeface="Consolas"/>
              </a:rPr>
              <a:t>  "mcpServers": {</a:t>
            </a:r>
          </a:p>
          <a:p xmlns:a="http://schemas.openxmlformats.org/drawingml/2006/main">
            <a:r>
              <a:rPr lang="en-US" sz="1400">
                <a:solidFill>
                  <a:srgbClr val="263238"/>
                </a:solidFill>
                <a:latin typeface="Consolas"/>
                <a:ea typeface="Consolas"/>
              </a:rPr>
              <a:t>    "filesystem": {</a:t>
            </a:r>
          </a:p>
          <a:p xmlns:a="http://schemas.openxmlformats.org/drawingml/2006/main">
            <a:r>
              <a:rPr lang="en-US" sz="1400">
                <a:solidFill>
                  <a:srgbClr val="263238"/>
                </a:solidFill>
                <a:latin typeface="Consolas"/>
                <a:ea typeface="Consolas"/>
              </a:rPr>
              <a:t>      "command": "npx",</a:t>
            </a:r>
          </a:p>
          <a:p xmlns:a="http://schemas.openxmlformats.org/drawingml/2006/main">
            <a:r>
              <a:rPr lang="en-US" sz="1400">
                <a:solidFill>
                  <a:srgbClr val="263238"/>
                </a:solidFill>
                <a:latin typeface="Consolas"/>
                <a:ea typeface="Consolas"/>
              </a:rPr>
              <a:t>      "args": ["-y", "@modelcontextprotocol/server-filesystem", "/path"]</a:t>
            </a:r>
          </a:p>
          <a:p xmlns:a="http://schemas.openxmlformats.org/drawingml/2006/main">
            <a:r>
              <a:rPr lang="en-US" sz="1400">
                <a:solidFill>
                  <a:srgbClr val="263238"/>
                </a:solidFill>
                <a:latin typeface="Consolas"/>
                <a:ea typeface="Consolas"/>
              </a:rPr>
              <a:t>    }</a:t>
            </a:r>
          </a:p>
          <a:p xmlns:a="http://schemas.openxmlformats.org/drawingml/2006/main">
            <a:r>
              <a:rPr lang="en-US" sz="1400">
                <a:solidFill>
                  <a:srgbClr val="263238"/>
                </a:solidFill>
                <a:latin typeface="Consolas"/>
                <a:ea typeface="Consolas"/>
              </a:rPr>
              <a:t>  }</a:t>
            </a:r>
          </a:p>
          <a:p xmlns:a="http://schemas.openxmlformats.org/drawingml/2006/main">
            <a:r>
              <a:rPr lang="en-US" sz="1400">
                <a:solidFill>
                  <a:srgbClr val="263238"/>
                </a:solidFill>
                <a:latin typeface="Consolas"/>
                <a:ea typeface="Consolas"/>
              </a:rPr>
              <a:t>}</a:t>
            </a: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AFAFA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典型应用场景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720000" y="1620000"/>
            <a:ext cx="9360000" cy="25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• 代码开发：GitHub、代码搜索、数据库查询</a:t>
            </a:r>
          </a:p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• 办公自动化：文档处理、邮件、日历</a:t>
            </a:r>
          </a:p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• 数据分析：连接 BI 工具、执行 SQL</a:t>
            </a:r>
          </a:p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• 浏览器自动化：网页操作、截图、测试</a:t>
            </a:r>
          </a:p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• 企业集成：CRM、ERP、内部 API</a:t>
            </a:r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AFAFA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开发自己的 MCP Server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720000" y="1440000"/>
            <a:ext cx="936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63238"/>
                </a:solidFill>
                <a:latin typeface="Calibri"/>
                <a:ea typeface="Calibri"/>
              </a:rPr>
              <a:t>官方 SDK 支持 TypeScript、Python、Java、C#、Go 等语言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720000" y="2160000"/>
            <a:ext cx="9360000" cy="21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基本步骤：</a:t>
            </a:r>
          </a:p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1. 安装 SDK</a:t>
            </a:r>
          </a:p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2. 定义 Tools / Resources / Prompts</a:t>
            </a:r>
          </a:p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3. 实现处理逻辑</a:t>
            </a:r>
          </a:p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4. 通过 stdio 或 HTTP 启动服务</a:t>
            </a:r>
          </a:p>
          <a:p xmlns:a="http://schemas.openxmlformats.org/drawingml/2006/main">
            <a:r>
              <a:rPr lang="en-US" sz="1800">
                <a:solidFill>
                  <a:srgbClr val="37474F"/>
                </a:solidFill>
                <a:latin typeface="Calibri"/>
                <a:ea typeface="Calibri"/>
              </a:rPr>
              <a:t>5. 在 Host 配置文件中注册</a:t>
            </a:r>
          </a:p>
        </p:txBody>
      </p:sp>
    </p:spTree>
  </p:cSld>
</p:sld>
</file>

<file path=ppt/slides/slide11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>
                <a:solidFill>
                  <a:srgbClr val="FFFFFF"/>
                </a:solidFill>
              </a:rPr>
              <a:t>总结</a:t>
            </a:r>
          </a:p>
        </p:txBody>
      </p:sp>
      <p:sp>
        <p:nvSpPr>
          <p:cNvPr id="100024" name="TextBox 2"/>
          <p:cNvSpPr txBox="1"/>
          <p:nvPr/>
        </p:nvSpPr>
        <p:spPr>
          <a:xfrm xmlns:a="http://schemas.openxmlformats.org/drawingml/2006/main">
            <a:off x="720000" y="1800000"/>
            <a:ext cx="9360000" cy="25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>
                <a:solidFill>
                  <a:srgbClr val="FFFFFF"/>
                </a:solidFill>
                <a:latin typeface="Calibri"/>
                <a:ea typeface="Calibri"/>
              </a:rPr>
              <a:t>• MCP 是 AI 与外部世界连接的标准协议</a:t>
            </a:r>
          </a:p>
          <a:p xmlns:a="http://schemas.openxmlformats.org/drawingml/2006/main">
            <a:r>
              <a:rPr lang="en-US" sz="2000">
                <a:solidFill>
                  <a:srgbClr val="FFFFFF"/>
                </a:solidFill>
                <a:latin typeface="Calibri"/>
                <a:ea typeface="Calibri"/>
              </a:rPr>
              <a:t>• 三大能力：Tools、Resources、Prompts</a:t>
            </a:r>
          </a:p>
          <a:p xmlns:a="http://schemas.openxmlformats.org/drawingml/2006/main">
            <a:r>
              <a:rPr lang="en-US" sz="2000">
                <a:solidFill>
                  <a:srgbClr val="FFFFFF"/>
                </a:solidFill>
                <a:latin typeface="Calibri"/>
                <a:ea typeface="Calibri"/>
              </a:rPr>
              <a:t>• 降低集成成本，构建开放生态</a:t>
            </a:r>
          </a:p>
          <a:p xmlns:a="http://schemas.openxmlformats.org/drawingml/2006/main">
            <a:r>
              <a:rPr lang="en-US" sz="2000">
                <a:solidFill>
                  <a:srgbClr val="FFFFFF"/>
                </a:solidFill>
                <a:latin typeface="Calibri"/>
                <a:ea typeface="Calibri"/>
              </a:rPr>
              <a:t>• 已在 Cursor、Claude Desktop 等主流工具中落地</a:t>
            </a:r>
          </a:p>
        </p:txBody>
      </p:sp>
    </p:spTree>
  </p:cSld>
</p:sld>
</file>

<file path=ppt/slides/slide12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400">
                <a:solidFill>
                  <a:srgbClr val="FFFFFF"/>
                </a:solidFill>
              </a:rPr>
              <a:t>Q &amp; A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40000" y="4320000"/>
            <a:ext cx="720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B0BEC5"/>
                </a:solidFill>
                <a:latin typeface="Calibri"/>
                <a:ea typeface="Calibri"/>
              </a:rPr>
              <a:t>modelcontextprotocol.io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OfficeCLI/1.0.125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2026-06-30T14:04:30Z</dcterms:created>
  <cp:lastModifiedBy>OfficeCLI</cp:lastModifiedBy>
  <dcterms:modified xsi:type="dcterms:W3CDTF">2026-06-30T14:04:30Z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1.0.125</vt:lpwstr>
  </op:property>
  <op:property fmtid="{D5CDD505-2E9C-101B-9397-08002B2CF9AE}" pid="3" name="OfficeCLI.LastModified">
    <vt:lpwstr xmlns:vt="http://schemas.openxmlformats.org/officeDocument/2006/docPropsVTypes">2026-06-30T14:04:54Z</vt:lpwstr>
  </op:property>
</op:Properties>
</file>